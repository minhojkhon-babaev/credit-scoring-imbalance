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10"/>
    <p:sldId id="258" r:id="rId11"/>
    <p:sldId id="259" r:id="rId12"/>
    <p:sldId id="260" r:id="rId13"/>
  </p:sldIdLst>
  <p:sldSz cy="6858000" cx="12192000"/>
  <p:notesSz cx="6858000" cy="9144000"/>
  <p:embeddedFontLst>
    <p:embeddedFont>
      <p:font typeface="Helvetica Neue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font" Target="fonts/HelveticaNeue-regular.fntdata"/><Relationship Id="rId15" Type="http://schemas.openxmlformats.org/officeDocument/2006/relationships/font" Target="fonts/HelveticaNeue-bold.fntdata"/><Relationship Id="rId16" Type="http://schemas.openxmlformats.org/officeDocument/2006/relationships/font" Target="fonts/HelveticaNeue-italic.fntdata"/><Relationship Id="rId17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 showMasterSp="0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descr="Picture 9" id="52" name="Google Shape;52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13"/>
            <p:cNvSpPr/>
            <p:nvPr/>
          </p:nvSpPr>
          <p:spPr>
            <a:xfrm>
              <a:off x="766762" y="753175"/>
              <a:ext cx="10658400" cy="53397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32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icture 28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2"/>
            <a:ext cx="886500" cy="88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3"/>
          <p:cNvCxnSpPr/>
          <p:nvPr/>
        </p:nvCxnSpPr>
        <p:spPr>
          <a:xfrm>
            <a:off x="6090212" y="962172"/>
            <a:ext cx="0" cy="84030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6" name="Google Shape;56;p13"/>
          <p:cNvCxnSpPr/>
          <p:nvPr/>
        </p:nvCxnSpPr>
        <p:spPr>
          <a:xfrm>
            <a:off x="8642580" y="962172"/>
            <a:ext cx="0" cy="84030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7" name="Google Shape;57;p13"/>
          <p:cNvCxnSpPr/>
          <p:nvPr/>
        </p:nvCxnSpPr>
        <p:spPr>
          <a:xfrm>
            <a:off x="11179046" y="962172"/>
            <a:ext cx="0" cy="84030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2130739" y="1112072"/>
            <a:ext cx="35814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2" type="body"/>
          </p:nvPr>
        </p:nvSpPr>
        <p:spPr>
          <a:xfrm>
            <a:off x="6239979" y="1112072"/>
            <a:ext cx="2252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3" type="body"/>
          </p:nvPr>
        </p:nvSpPr>
        <p:spPr>
          <a:xfrm>
            <a:off x="8796001" y="1112072"/>
            <a:ext cx="22527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4" type="body"/>
          </p:nvPr>
        </p:nvSpPr>
        <p:spPr>
          <a:xfrm>
            <a:off x="1014505" y="2284019"/>
            <a:ext cx="101631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5" type="body"/>
          </p:nvPr>
        </p:nvSpPr>
        <p:spPr>
          <a:xfrm>
            <a:off x="1014505" y="4747187"/>
            <a:ext cx="49980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11095176" y="641476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2 copy" showMasterSp="0">
  <p:cSld name="Таблица_2 cop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-351154" y="-10861"/>
            <a:ext cx="13083600" cy="6879600"/>
          </a:xfrm>
          <a:prstGeom prst="rect">
            <a:avLst/>
          </a:prstGeom>
          <a:solidFill>
            <a:srgbClr val="172C6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1_Logo_HSE_full_rus_CMYK_for_dark_1.png" id="70" name="Google Shape;7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3362" y="2646362"/>
            <a:ext cx="1565147" cy="156514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11095176" y="641476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2130739" y="1112072"/>
            <a:ext cx="3581410" cy="704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Московский институт электроники и математики имени А.Н. Тихонова</a:t>
            </a:r>
            <a:endParaRPr/>
          </a:p>
        </p:txBody>
      </p:sp>
      <p:sp>
        <p:nvSpPr>
          <p:cNvPr id="77" name="Google Shape;77;p16"/>
          <p:cNvSpPr txBox="1"/>
          <p:nvPr>
            <p:ph idx="2" type="body"/>
          </p:nvPr>
        </p:nvSpPr>
        <p:spPr>
          <a:xfrm>
            <a:off x="6239979" y="1112072"/>
            <a:ext cx="2252835" cy="54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Прикладные модели 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искусственного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 интеллекта</a:t>
            </a:r>
            <a:endParaRPr/>
          </a:p>
        </p:txBody>
      </p:sp>
      <p:sp>
        <p:nvSpPr>
          <p:cNvPr id="78" name="Google Shape;78;p16"/>
          <p:cNvSpPr txBox="1"/>
          <p:nvPr>
            <p:ph idx="3" type="body"/>
          </p:nvPr>
        </p:nvSpPr>
        <p:spPr>
          <a:xfrm>
            <a:off x="8796001" y="1112072"/>
            <a:ext cx="2252835" cy="54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Москва</a:t>
            </a:r>
            <a:b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2026</a:t>
            </a:r>
            <a:endParaRPr/>
          </a:p>
        </p:txBody>
      </p:sp>
      <p:sp>
        <p:nvSpPr>
          <p:cNvPr id="79" name="Google Shape;79;p16"/>
          <p:cNvSpPr txBox="1"/>
          <p:nvPr>
            <p:ph idx="4" type="body"/>
          </p:nvPr>
        </p:nvSpPr>
        <p:spPr>
          <a:xfrm>
            <a:off x="1014505" y="2284019"/>
            <a:ext cx="10162990" cy="1981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3700"/>
              <a:buFont typeface="Helvetica Neue"/>
              <a:buNone/>
            </a:pPr>
            <a:r>
              <a:t/>
            </a:r>
            <a:endParaRPr sz="3000">
              <a:solidFill>
                <a:srgbClr val="172C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3300"/>
              <a:buFont typeface="Helvetica Neue"/>
              <a:buNone/>
            </a:pPr>
            <a:r>
              <a:rPr b="1" lang="en-US" sz="3000">
                <a:solidFill>
                  <a:srgbClr val="172C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Влияние методов синтетической</a:t>
            </a:r>
            <a:endParaRPr b="1" sz="3000">
              <a:solidFill>
                <a:srgbClr val="172C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3300"/>
              <a:buFont typeface="Helvetica Neue"/>
              <a:buNone/>
            </a:pPr>
            <a:r>
              <a:rPr b="1" lang="en-US" sz="3000">
                <a:solidFill>
                  <a:srgbClr val="172C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генерации данных на качество</a:t>
            </a:r>
            <a:endParaRPr b="1" sz="3000">
              <a:solidFill>
                <a:srgbClr val="172C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3300"/>
              <a:buFont typeface="Helvetica Neue"/>
              <a:buNone/>
            </a:pPr>
            <a:r>
              <a:rPr b="1" lang="en-US" sz="3000">
                <a:solidFill>
                  <a:srgbClr val="172C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моделей кредитного скоринга при дисбалансе классов</a:t>
            </a:r>
            <a:endParaRPr b="1" sz="3000">
              <a:solidFill>
                <a:srgbClr val="172C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3300"/>
              <a:buFont typeface="Helvetica Neue"/>
              <a:buNone/>
            </a:pPr>
            <a:r>
              <a:t/>
            </a:r>
            <a:endParaRPr b="1" sz="3000">
              <a:solidFill>
                <a:srgbClr val="172C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3300"/>
              <a:buFont typeface="Helvetica Neue"/>
              <a:buNone/>
            </a:pPr>
            <a:r>
              <a:t/>
            </a:r>
            <a:endParaRPr b="1" sz="3000">
              <a:solidFill>
                <a:srgbClr val="172C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3300"/>
              <a:buFont typeface="Helvetica Neue"/>
              <a:buNone/>
            </a:pPr>
            <a:r>
              <a:t/>
            </a:r>
            <a:endParaRPr b="1" sz="3000">
              <a:solidFill>
                <a:srgbClr val="172C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2100"/>
              <a:buFont typeface="Helvetica Neue"/>
              <a:buNone/>
            </a:pPr>
            <a:r>
              <a:t/>
            </a:r>
            <a:endParaRPr sz="3000"/>
          </a:p>
        </p:txBody>
      </p:sp>
      <p:sp>
        <p:nvSpPr>
          <p:cNvPr id="80" name="Google Shape;80;p16"/>
          <p:cNvSpPr txBox="1"/>
          <p:nvPr>
            <p:ph idx="5" type="body"/>
          </p:nvPr>
        </p:nvSpPr>
        <p:spPr>
          <a:xfrm>
            <a:off x="1063350" y="4733200"/>
            <a:ext cx="4908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Выполнил: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Бабаев Минходжхон Зафарович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2C68"/>
                </a:solidFill>
                <a:latin typeface="Times New Roman"/>
              </a:rPr>
              <a:t>Что изменилось после обсуждения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36576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73152" cy="4754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243584"/>
            <a:ext cx="3310128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C68"/>
                </a:solidFill>
                <a:latin typeface="Calibri"/>
              </a:rPr>
              <a:t>Optuna на расширенных данных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Гиперпараметры ищутся заново для каждого метода, а не переносятся с baseline.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12 испытаний, цель — средний PR-AUC по 3 стратифицированным фолдам.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После поиска отдельно сравниваются объёмы синтетики: +25%, +50%, +100% и баланс 1:1.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097280"/>
            <a:ext cx="36576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1960" y="1097280"/>
            <a:ext cx="73152" cy="4754880"/>
          </a:xfrm>
          <a:prstGeom prst="rect">
            <a:avLst/>
          </a:prstGeom>
          <a:solidFill>
            <a:srgbClr val="0D7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243584"/>
            <a:ext cx="3310128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C68"/>
                </a:solidFill>
                <a:latin typeface="Calibri"/>
              </a:rPr>
              <a:t>Сначала лёгкие методы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SMOTE и две модификации: Borderline-SMOTE и ADASYN.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Генерация другой моделью: смесь гауссиан по числовым признакам.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Добавление гауссовского шума к копиям дефолтов.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CTGAN — только после этой лестницы.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097280"/>
            <a:ext cx="36576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097280"/>
            <a:ext cx="73152" cy="47548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1243584"/>
            <a:ext cx="3310128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C68"/>
                </a:solidFill>
                <a:latin typeface="Calibri"/>
              </a:rPr>
              <a:t>Веса внутри библиотек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Отдельный baseline, без синтетики.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LogReg: веса классов.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XGBoost: scale_pos_weight.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CatBoost: class_weights.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Множитель веса тоже подбирает Optuna.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2C68"/>
                </a:solidFill>
                <a:latin typeface="Times New Roman"/>
              </a:rPr>
              <a:t>Протокол: без утечки в тест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562356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73152" cy="4892040"/>
          </a:xfrm>
          <a:prstGeom prst="rect">
            <a:avLst/>
          </a:prstGeom>
          <a:solidFill>
            <a:srgbClr val="0D7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243584"/>
            <a:ext cx="5276088" cy="463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C68"/>
                </a:solidFill>
                <a:latin typeface="Calibri"/>
              </a:rPr>
              <a:t>Два датасета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German Credit: все 1000 строк, 30% плохих кредитов, 7 числовых и 13 категориальных признаков. В тесте 200 строк.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Give Me Some Credit: стратифицированные 8000 из 150000, доля дефолтов 6,7%. В тесте 1600 строк.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53212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73152" cy="4892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243584"/>
            <a:ext cx="5184648" cy="463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C68"/>
                </a:solidFill>
                <a:latin typeface="Calibri"/>
              </a:rPr>
              <a:t>Что зафиксировано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Три модели: логистическая регрессия, XGBoost, CatBoost.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Генератор учится только на обучающем фолде. Тест не участвует ни в Optuna, ни в выборе порога.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CTGAN учится на дефолтах, 300 эпох. Trial берёт строки из уже готового пула.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Порог F1 выбирается по out-of-fold предсказаниям. На тесте считаются PR-AUC, ROC-AUC, F1 и Recall.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2C68"/>
                </a:solidFill>
                <a:latin typeface="Times New Roman"/>
              </a:rPr>
              <a:t>Тест: что обошло baseline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51560"/>
          <a:ext cx="1133856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554480"/>
                <a:gridCol w="2331720"/>
                <a:gridCol w="1325880"/>
                <a:gridCol w="2331720"/>
                <a:gridCol w="2377440"/>
              </a:tblGrid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Данные</a:t>
                      </a:r>
                    </a:p>
                  </a:txBody>
                  <a:tcPr anchor="ctr">
                    <a:solidFill>
                      <a:srgbClr val="0E2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 anchor="ctr">
                    <a:solidFill>
                      <a:srgbClr val="0E2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Метод</a:t>
                      </a:r>
                    </a:p>
                  </a:txBody>
                  <a:tcPr anchor="ctr">
                    <a:solidFill>
                      <a:srgbClr val="0E2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Объём</a:t>
                      </a:r>
                    </a:p>
                  </a:txBody>
                  <a:tcPr anchor="ctr">
                    <a:solidFill>
                      <a:srgbClr val="0E2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anchor="ctr">
                    <a:solidFill>
                      <a:srgbClr val="0E2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anchor="ctr">
                    <a:solidFill>
                      <a:srgbClr val="0E2C68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B40"/>
                          </a:solidFill>
                          <a:latin typeface="Calibri"/>
                        </a:rPr>
                        <a:t>German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Без баланса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0.663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0.833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B40"/>
                          </a:solidFill>
                          <a:latin typeface="Calibri"/>
                        </a:rPr>
                        <a:t>German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Веса классов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0.644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0.817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B40"/>
                          </a:solidFill>
                          <a:latin typeface="Calibri"/>
                        </a:rPr>
                        <a:t>German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ADASYN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+25%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German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GMM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+25%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0.708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B40"/>
                          </a:solidFill>
                          <a:latin typeface="Calibri"/>
                        </a:rPr>
                        <a:t>German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CTGAN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1:1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0.717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B40"/>
                          </a:solidFill>
                          <a:latin typeface="Calibri"/>
                        </a:rPr>
                        <a:t>GiveMe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Без баланса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0.166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0.308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GiveMe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Веса классов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0.274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0.327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B40"/>
                          </a:solidFill>
                          <a:latin typeface="Calibri"/>
                        </a:rPr>
                        <a:t>GiveMe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Без баланса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0.360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0.486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GiveMe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Шум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+50%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0.373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E2C68"/>
                          </a:solidFill>
                          <a:latin typeface="Calibri"/>
                        </a:rPr>
                        <a:t>0.514</a:t>
                      </a:r>
                    </a:p>
                  </a:txBody>
                  <a:tcPr anchor="ctr">
                    <a:solidFill>
                      <a:srgbClr val="FBF6E8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B40"/>
                          </a:solidFill>
                          <a:latin typeface="Calibri"/>
                        </a:rPr>
                        <a:t>GiveMe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ADASYN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+25%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0.358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0.589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2B40"/>
                          </a:solidFill>
                          <a:latin typeface="Calibri"/>
                        </a:rPr>
                        <a:t>GiveMe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CTGAN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+25%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0.349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B40"/>
                          </a:solidFill>
                          <a:latin typeface="Calibri"/>
                        </a:rPr>
                        <a:t>0.505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8912" y="62636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7A8E"/>
                </a:solidFill>
                <a:latin typeface="Calibri"/>
              </a:rPr>
              <a:t>Золотом отмечены лучший PR-AUC на каждом датасете и скачок LogReg от весов классов. Полная сетка 48 прогонов — в results/summary.md.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2C68"/>
                </a:solidFill>
                <a:latin typeface="Times New Roman"/>
              </a:rPr>
              <a:t>Выводы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56235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51560"/>
            <a:ext cx="73152" cy="2331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197864"/>
            <a:ext cx="5276088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C68"/>
                </a:solidFill>
                <a:latin typeface="Calibri"/>
              </a:rPr>
              <a:t>Веса классов — нужный baseline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На Give Me Some Credit логистическая регрессия без весов почти не отделяет дефолт: PR-AUC 0.166, ROC-AUC 0.614. С весами — 0.274 и 0.766.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У деревьев веса поднимают Recall, но PR-AUC не растёт. Синтетику нужно сравнивать с этим baseline, а не только с сырыми данными.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51560"/>
            <a:ext cx="553212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73152" cy="2331720"/>
          </a:xfrm>
          <a:prstGeom prst="rect">
            <a:avLst/>
          </a:prstGeom>
          <a:solidFill>
            <a:srgbClr val="0D7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197864"/>
            <a:ext cx="5184648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C68"/>
                </a:solidFill>
                <a:latin typeface="Calibri"/>
              </a:rPr>
              <a:t>До GAN достаточно лёгких методов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Лучший PR-AUC: CatBoost + GMM, German, 0.708. На Give Me Some Credit — CatBoost + шум, 0.373.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Лучший Recall на German — ADASYN +25%, 0.900. Полный баланс 1:1 для деревьев почти нигде не выбран.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566160"/>
            <a:ext cx="113385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566160"/>
            <a:ext cx="73152" cy="2331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3712464"/>
            <a:ext cx="10991088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C68"/>
                </a:solidFill>
                <a:latin typeface="Calibri"/>
              </a:rPr>
              <a:t>CTGAN не обогнал лёгкие генераторы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300 эпох не дали выигрыша. German, CatBoost: CTGAN 0.686 против 0.708 у GMM. Give Me Some Credit: CTGAN 0.349 против 0.373 у шума и 0.360 у модели без балансировки.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E2B40"/>
                </a:solidFill>
                <a:latin typeface="Calibri"/>
              </a:rPr>
              <a:t>SMOTE ближе к данным: Вассерштейн 0.08 и 0.04. У CTGAN — 0.55 и 1.02. На логистической регрессии при 6,7% дефолтов CTGAN ухудшил PR-AUC и ROC-AUC. Прогон — один сплит; в тесте German 60 дефолтов.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